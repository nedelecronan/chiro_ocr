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1" r:id="rId5"/>
    <p:sldId id="260" r:id="rId6"/>
    <p:sldId id="262" r:id="rId7"/>
    <p:sldId id="264" r:id="rId8"/>
    <p:sldId id="265" r:id="rId9"/>
    <p:sldId id="266" r:id="rId10"/>
    <p:sldId id="263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B0F24-FF22-4AEA-A1B5-E055C3C3C4F1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B22C5-95C0-4096-A0F3-E54136B4A8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990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B22C5-95C0-4096-A0F3-E54136B4A8B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125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85E5CB-9DB5-84AD-9CC1-098444AB6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5B83A3-D24B-F978-903E-B6634AD7F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431FC4-D372-E7AA-41B8-EC8D9DFD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2480-622E-46B3-8F6D-BF17D033576B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843191-7D47-B731-BA86-8154C048D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AE9EBD-47DA-A1C6-F7E3-7FF56703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36DD-E912-4935-BB7F-C10447AFE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8452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AB0BA5-4F8E-013D-3CE5-C7E7BC87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DCC169-EE33-9EA0-5DDC-29AFF5CDB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DB38B5-45BF-D773-2358-87FBFB4A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2480-622E-46B3-8F6D-BF17D033576B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B90D6-99B1-F892-7C5A-A2D9F0C8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CEA84D-4AAF-3471-BC67-9B8970A58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36DD-E912-4935-BB7F-C10447AFE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42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4B9AD5-AB45-DC83-4C97-5B788BFC7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BD1E56-5BC3-887E-D098-249A3B3CA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6C1EC3-5FB0-7CAD-11E1-6C2EAAB39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2480-622E-46B3-8F6D-BF17D033576B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31FED5-9888-410B-B19C-67B306F8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5D3147-822B-73DF-8AC1-25C09D974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36DD-E912-4935-BB7F-C10447AFE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6393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236F4C-1FD6-60B6-1D14-396E3DC4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4E7760-6E8A-D1C1-5C17-7042F079F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240CF14-28F0-55A9-AD89-C6D5B382A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6A5F573-7563-CB99-C581-F1CBA0880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2480-622E-46B3-8F6D-BF17D033576B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A920AD-FB1E-162E-8A9A-D8D13DE9F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50DBCA-6DE0-0971-9F43-E105C4F9B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36DD-E912-4935-BB7F-C10447AFE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041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95AAA0-7154-3CE4-0C6D-CDC3A3D87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3A521D-1676-3525-D5A4-FB12E9F4D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9CDC95B-126C-75DD-EA4A-82D7352BB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6910E70-E1F2-3A6B-68E6-C3D513AF8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48B8D3B-9BE0-5C8E-049D-8813D6C1EC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CAE579-C57B-DBAD-D140-A7EAF75A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2480-622E-46B3-8F6D-BF17D033576B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2FFFF5B-01A4-2F3C-766F-79C4237A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9BADD33-BA55-D8B5-03BE-E8D1DB559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36DD-E912-4935-BB7F-C10447AFE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405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868BF9-B81A-ADD2-493D-DDB87FB29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041EBF-08B9-2698-9B07-D2D27905B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2480-622E-46B3-8F6D-BF17D033576B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E2D28BB-F175-9820-CA10-F4A6C93C8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0682EB2-D696-DB8B-2279-CC9AE0D1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36DD-E912-4935-BB7F-C10447AFE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935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23A8DA0-FCD2-E0A9-3095-6531DB16E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2480-622E-46B3-8F6D-BF17D033576B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7830F5B-EF6E-3937-7229-AB622AD4F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1A6674-26DA-9845-96B7-C1A65918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36DD-E912-4935-BB7F-C10447AFE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1820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209B5F-6ED5-E3E6-E0C2-1586908F4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3E8B36-76F7-2CA1-72FD-78E703608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74A594-48BF-ECAC-43C7-6142579EC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599185-06FA-9DAE-549E-B401F2748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2480-622E-46B3-8F6D-BF17D033576B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3D542A7-9EF4-2D27-61A1-18711C3FD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E81EC4-AB98-2457-F1BE-38CD7EDC3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36DD-E912-4935-BB7F-C10447AFE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95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82201-28D5-F4AC-E28F-730290DEA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F855B06-599E-6864-FBF2-ADB005954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4A199B-49D3-4B08-02CE-0A72076E0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D2EBF2-CB7C-9CEE-E434-7736B53E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2480-622E-46B3-8F6D-BF17D033576B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A080FC-F732-9FB9-9867-2C11DCA24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35FB33-8132-8DE0-358A-ABFB89C2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36DD-E912-4935-BB7F-C10447AFE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3046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B2A68B-CED5-54D9-021D-FD872C59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105BA08-FCE8-1558-25E8-510761A25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BB431D-BC24-7345-A27B-2B98FFF2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2480-622E-46B3-8F6D-BF17D033576B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E275DC-908A-C33E-7BCF-043E974BB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F50D19-316B-1E19-B6ED-A96D29A9B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36DD-E912-4935-BB7F-C10447AFE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683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14735A2-6D31-0B04-B21D-013E11DC8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8B7A6ED-ABD8-3360-2626-6E94EFF7F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1D5386-63EF-5D80-F0DA-A599D604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2480-622E-46B3-8F6D-BF17D033576B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B44531-1AB6-0048-4820-E085B96BB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252C79-F09D-BEAE-CFD4-47CC3550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36DD-E912-4935-BB7F-C10447AFE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2475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D76E900-3349-62E9-446F-0D57A2C70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A46AF6-ED2A-7E2F-658F-8C45DC330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392091-2C57-C3C9-F3B1-634B9EF91F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42480-622E-46B3-8F6D-BF17D033576B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F225C5-F9EE-CAE3-4E0C-69487D68E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763ED7-D9E7-EEF7-B5CA-671440A9E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F336DD-E912-4935-BB7F-C10447AFE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8023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DD420-C291-7DB0-0748-BA7307D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3961"/>
            <a:ext cx="9144000" cy="1022402"/>
          </a:xfrm>
        </p:spPr>
        <p:txBody>
          <a:bodyPr/>
          <a:lstStyle/>
          <a:p>
            <a:r>
              <a:rPr lang="fr-FR" dirty="0"/>
              <a:t>Chiro OCR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29D8CE-EA6E-BC1A-E942-FD143B3D4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89523"/>
            <a:ext cx="9144000" cy="459658"/>
          </a:xfrm>
        </p:spPr>
        <p:txBody>
          <a:bodyPr/>
          <a:lstStyle/>
          <a:p>
            <a:r>
              <a:rPr lang="fr-FR" dirty="0"/>
              <a:t>Outil de saisie automatique données capture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46A0AE6-5A0B-0FAE-7649-EB28E6CA6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1376363"/>
            <a:ext cx="10488214" cy="435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032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DD420-C291-7DB0-0748-BA7307D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3961"/>
            <a:ext cx="9144000" cy="1022402"/>
          </a:xfrm>
        </p:spPr>
        <p:txBody>
          <a:bodyPr/>
          <a:lstStyle/>
          <a:p>
            <a:r>
              <a:rPr lang="fr-FR" dirty="0"/>
              <a:t>Chiro OCR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29D8CE-EA6E-BC1A-E942-FD143B3D4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89523"/>
            <a:ext cx="9144000" cy="459658"/>
          </a:xfrm>
        </p:spPr>
        <p:txBody>
          <a:bodyPr/>
          <a:lstStyle/>
          <a:p>
            <a:r>
              <a:rPr lang="fr-FR" dirty="0"/>
              <a:t>Outil de saisie automatique données capture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10272D-628D-620F-93F0-52B818E85DE8}"/>
              </a:ext>
            </a:extLst>
          </p:cNvPr>
          <p:cNvSpPr/>
          <p:nvPr/>
        </p:nvSpPr>
        <p:spPr>
          <a:xfrm>
            <a:off x="707923" y="1346396"/>
            <a:ext cx="4218039" cy="5561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Détection format fiche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75F15856-EBC1-7AC5-7996-52345EEED9DC}"/>
              </a:ext>
            </a:extLst>
          </p:cNvPr>
          <p:cNvCxnSpPr>
            <a:stCxn id="6" idx="2"/>
          </p:cNvCxnSpPr>
          <p:nvPr/>
        </p:nvCxnSpPr>
        <p:spPr>
          <a:xfrm flipH="1">
            <a:off x="2816942" y="1902541"/>
            <a:ext cx="1" cy="231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A6EE492-79DA-6438-16B4-2E5EF24FC875}"/>
              </a:ext>
            </a:extLst>
          </p:cNvPr>
          <p:cNvSpPr/>
          <p:nvPr/>
        </p:nvSpPr>
        <p:spPr>
          <a:xfrm>
            <a:off x="707922" y="2133600"/>
            <a:ext cx="4218039" cy="5561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Découpe cases de données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A63473B-3BD8-E028-5228-6CE87CD3B223}"/>
              </a:ext>
            </a:extLst>
          </p:cNvPr>
          <p:cNvCxnSpPr/>
          <p:nvPr/>
        </p:nvCxnSpPr>
        <p:spPr>
          <a:xfrm flipH="1">
            <a:off x="2816941" y="2697271"/>
            <a:ext cx="1" cy="231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36F9465-468D-28D3-B449-BF67B2595827}"/>
              </a:ext>
            </a:extLst>
          </p:cNvPr>
          <p:cNvSpPr/>
          <p:nvPr/>
        </p:nvSpPr>
        <p:spPr>
          <a:xfrm>
            <a:off x="707921" y="2933927"/>
            <a:ext cx="4218039" cy="5561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Estimation données de chaque case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11330B3D-256B-77A5-B3B8-0271653FEC0E}"/>
              </a:ext>
            </a:extLst>
          </p:cNvPr>
          <p:cNvCxnSpPr/>
          <p:nvPr/>
        </p:nvCxnSpPr>
        <p:spPr>
          <a:xfrm flipH="1">
            <a:off x="2861182" y="3517413"/>
            <a:ext cx="1" cy="231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A1FADE4-3D27-E79D-1569-F33CC87CDC50}"/>
              </a:ext>
            </a:extLst>
          </p:cNvPr>
          <p:cNvSpPr/>
          <p:nvPr/>
        </p:nvSpPr>
        <p:spPr>
          <a:xfrm>
            <a:off x="707920" y="3765519"/>
            <a:ext cx="4218039" cy="5561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Validation/correction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163AEC-A25D-9852-16CC-858A5E1A865B}"/>
              </a:ext>
            </a:extLst>
          </p:cNvPr>
          <p:cNvSpPr/>
          <p:nvPr/>
        </p:nvSpPr>
        <p:spPr>
          <a:xfrm>
            <a:off x="707919" y="4597111"/>
            <a:ext cx="4218039" cy="5561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Génération csv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BE28682B-4BC9-F2A3-6023-C72227E9A25E}"/>
              </a:ext>
            </a:extLst>
          </p:cNvPr>
          <p:cNvCxnSpPr/>
          <p:nvPr/>
        </p:nvCxnSpPr>
        <p:spPr>
          <a:xfrm flipH="1">
            <a:off x="2856261" y="4354886"/>
            <a:ext cx="1" cy="231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54087AC4-3CAB-AD86-29F5-02071FB36A45}"/>
              </a:ext>
            </a:extLst>
          </p:cNvPr>
          <p:cNvCxnSpPr>
            <a:stCxn id="18" idx="3"/>
          </p:cNvCxnSpPr>
          <p:nvPr/>
        </p:nvCxnSpPr>
        <p:spPr>
          <a:xfrm flipV="1">
            <a:off x="4925959" y="4043591"/>
            <a:ext cx="159282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FA22018-D81D-CC03-6DC2-F4183A67E11E}"/>
              </a:ext>
            </a:extLst>
          </p:cNvPr>
          <p:cNvSpPr/>
          <p:nvPr/>
        </p:nvSpPr>
        <p:spPr>
          <a:xfrm>
            <a:off x="6518787" y="3694302"/>
            <a:ext cx="1917290" cy="7872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Base de données image/data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B7D784-7F21-2B32-919A-F93502E328C1}"/>
              </a:ext>
            </a:extLst>
          </p:cNvPr>
          <p:cNvSpPr/>
          <p:nvPr/>
        </p:nvSpPr>
        <p:spPr>
          <a:xfrm>
            <a:off x="6518787" y="2641796"/>
            <a:ext cx="1917290" cy="7872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Apprentissage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AB36749F-D2C9-ED8D-C7B5-10DFAB6A161B}"/>
              </a:ext>
            </a:extLst>
          </p:cNvPr>
          <p:cNvCxnSpPr>
            <a:cxnSpLocks/>
            <a:stCxn id="23" idx="0"/>
            <a:endCxn id="24" idx="2"/>
          </p:cNvCxnSpPr>
          <p:nvPr/>
        </p:nvCxnSpPr>
        <p:spPr>
          <a:xfrm flipV="1">
            <a:off x="7477432" y="3429000"/>
            <a:ext cx="0" cy="265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AA2EB48E-37D1-1805-BF92-BD25343BA758}"/>
              </a:ext>
            </a:extLst>
          </p:cNvPr>
          <p:cNvCxnSpPr/>
          <p:nvPr/>
        </p:nvCxnSpPr>
        <p:spPr>
          <a:xfrm flipH="1">
            <a:off x="4925958" y="3165495"/>
            <a:ext cx="15928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4580D2A-0911-0D1C-CEC6-3990BC657445}"/>
              </a:ext>
            </a:extLst>
          </p:cNvPr>
          <p:cNvSpPr/>
          <p:nvPr/>
        </p:nvSpPr>
        <p:spPr>
          <a:xfrm>
            <a:off x="9335739" y="4481506"/>
            <a:ext cx="1917290" cy="7872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Import </a:t>
            </a:r>
            <a:r>
              <a:rPr lang="fr-FR" dirty="0" err="1"/>
              <a:t>DBChiro</a:t>
            </a:r>
            <a:endParaRPr lang="fr-FR" dirty="0"/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8718DF64-E81A-7E62-0086-5DD6C0AD3FC4}"/>
              </a:ext>
            </a:extLst>
          </p:cNvPr>
          <p:cNvCxnSpPr>
            <a:cxnSpLocks/>
            <a:stCxn id="19" idx="3"/>
            <a:endCxn id="31" idx="1"/>
          </p:cNvCxnSpPr>
          <p:nvPr/>
        </p:nvCxnSpPr>
        <p:spPr>
          <a:xfrm flipV="1">
            <a:off x="4925958" y="4875108"/>
            <a:ext cx="4409781" cy="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565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DD420-C291-7DB0-0748-BA7307D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3961"/>
            <a:ext cx="9144000" cy="1022402"/>
          </a:xfrm>
        </p:spPr>
        <p:txBody>
          <a:bodyPr/>
          <a:lstStyle/>
          <a:p>
            <a:r>
              <a:rPr lang="fr-FR" dirty="0"/>
              <a:t>Chiro OCR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29D8CE-EA6E-BC1A-E942-FD143B3D4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2542" y="1799346"/>
            <a:ext cx="5122606" cy="3447745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fr-FR" dirty="0"/>
              <a:t>En code Python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Nombreuses libraires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Code principalement généré par IA (Claude)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100% en local</a:t>
            </a:r>
          </a:p>
          <a:p>
            <a:pPr marL="342900" indent="-342900" algn="l">
              <a:buFontTx/>
              <a:buChar char="-"/>
            </a:pPr>
            <a:r>
              <a:rPr lang="fr-FR" dirty="0" err="1"/>
              <a:t>Processing</a:t>
            </a:r>
            <a:r>
              <a:rPr lang="fr-FR" dirty="0"/>
              <a:t> long (2 min/feuille)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Base de donnée apprentissage csv/images</a:t>
            </a:r>
          </a:p>
          <a:p>
            <a:pPr algn="l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CBE7927-3A8D-A450-A45B-FF2ACA8E2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42" y="1799347"/>
            <a:ext cx="4198375" cy="344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34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DD420-C291-7DB0-0748-BA7307D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3961"/>
            <a:ext cx="9144000" cy="1022402"/>
          </a:xfrm>
        </p:spPr>
        <p:txBody>
          <a:bodyPr/>
          <a:lstStyle/>
          <a:p>
            <a:r>
              <a:rPr lang="fr-FR" dirty="0" err="1"/>
              <a:t>Detection</a:t>
            </a:r>
            <a:r>
              <a:rPr lang="fr-FR" dirty="0"/>
              <a:t> fiche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29D8CE-EA6E-BC1A-E942-FD143B3D4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2542" y="1799346"/>
            <a:ext cx="5122606" cy="3447745"/>
          </a:xfrm>
        </p:spPr>
        <p:txBody>
          <a:bodyPr>
            <a:normAutofit lnSpcReduction="10000"/>
          </a:bodyPr>
          <a:lstStyle/>
          <a:p>
            <a:pPr marL="342900" indent="-342900" algn="l">
              <a:buFontTx/>
              <a:buChar char="-"/>
            </a:pPr>
            <a:r>
              <a:rPr lang="fr-FR" dirty="0"/>
              <a:t>Détection semi automatique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Correction manuelle possible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Très sensible/demande suppression titre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Fiche 2024 uniquement utilisable actuellement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demande un scan (peu performant photo tel)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A améliorer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CBE7927-3A8D-A450-A45B-FF2ACA8E2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42" y="1799347"/>
            <a:ext cx="4198375" cy="344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2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DD420-C291-7DB0-0748-BA7307D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3961"/>
            <a:ext cx="9144000" cy="1022402"/>
          </a:xfrm>
        </p:spPr>
        <p:txBody>
          <a:bodyPr/>
          <a:lstStyle/>
          <a:p>
            <a:r>
              <a:rPr lang="fr-FR" dirty="0"/>
              <a:t>Découpe cases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29D8CE-EA6E-BC1A-E942-FD143B3D4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249" y="1578119"/>
            <a:ext cx="5122606" cy="3447745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fr-FR" dirty="0"/>
              <a:t>Découpage basé sur un fichier JSON (par type de fiche).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C5B8DAA-53BF-946C-3049-8B9780CCF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61" y="1578119"/>
            <a:ext cx="5217830" cy="335275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5277033-EB6B-FA81-FD11-D50424865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302" y="3726294"/>
            <a:ext cx="4000500" cy="20574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FE7C0A2-0B38-785B-DF8F-FFC280E45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009" y="2335949"/>
            <a:ext cx="2339543" cy="126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95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DD420-C291-7DB0-0748-BA7307D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3961"/>
            <a:ext cx="9144000" cy="1022402"/>
          </a:xfrm>
        </p:spPr>
        <p:txBody>
          <a:bodyPr/>
          <a:lstStyle/>
          <a:p>
            <a:r>
              <a:rPr lang="fr-FR" dirty="0"/>
              <a:t>Estimation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29D8CE-EA6E-BC1A-E942-FD143B3D4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578" y="2964959"/>
            <a:ext cx="8619642" cy="3447745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fr-FR" dirty="0"/>
              <a:t>Modèle : </a:t>
            </a:r>
            <a:r>
              <a:rPr lang="fr-FR" dirty="0" err="1"/>
              <a:t>trocr-handwritten</a:t>
            </a:r>
            <a:r>
              <a:rPr lang="fr-FR" dirty="0"/>
              <a:t> + classificateur fermé (</a:t>
            </a:r>
            <a:r>
              <a:rPr lang="fr-FR" dirty="0" err="1"/>
              <a:t>TinyCNN</a:t>
            </a:r>
            <a:r>
              <a:rPr lang="fr-FR" dirty="0"/>
              <a:t>)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Pour chaque case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Code couleur selon confiance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Très dépendant de l’apprentissage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Résultat dépendant de la complexité (Sexe 95%, heure pas super).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Modèle à améliorer/fine tune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A26A0D6-2078-8D79-2980-21D306559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69" y="1368924"/>
            <a:ext cx="8901882" cy="135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233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DD420-C291-7DB0-0748-BA7307D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3961"/>
            <a:ext cx="9144000" cy="1022402"/>
          </a:xfrm>
        </p:spPr>
        <p:txBody>
          <a:bodyPr>
            <a:normAutofit/>
          </a:bodyPr>
          <a:lstStyle/>
          <a:p>
            <a:r>
              <a:rPr lang="fr-FR" dirty="0"/>
              <a:t>Validation /correction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120A3B7-565D-A704-77E6-0E02DA8CB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18" y="1589314"/>
            <a:ext cx="3070942" cy="2230846"/>
          </a:xfrm>
          <a:prstGeom prst="rect">
            <a:avLst/>
          </a:prstGeom>
        </p:spPr>
      </p:pic>
      <p:sp>
        <p:nvSpPr>
          <p:cNvPr id="7" name="Sous-titre 2">
            <a:extLst>
              <a:ext uri="{FF2B5EF4-FFF2-40B4-BE49-F238E27FC236}">
                <a16:creationId xmlns:a16="http://schemas.microsoft.com/office/drawing/2014/main" id="{A6E581FB-0875-4D3C-22A6-3EB1050B8C34}"/>
              </a:ext>
            </a:extLst>
          </p:cNvPr>
          <p:cNvSpPr txBox="1">
            <a:spLocks/>
          </p:cNvSpPr>
          <p:nvPr/>
        </p:nvSpPr>
        <p:spPr>
          <a:xfrm>
            <a:off x="7616038" y="1585006"/>
            <a:ext cx="2960522" cy="223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fr-FR" dirty="0"/>
              <a:t>Correction, soit: </a:t>
            </a:r>
          </a:p>
          <a:p>
            <a:pPr marL="800100" lvl="1" indent="-342900" algn="l">
              <a:buFontTx/>
              <a:buChar char="-"/>
            </a:pPr>
            <a:r>
              <a:rPr lang="fr-FR" dirty="0"/>
              <a:t>choix fermé</a:t>
            </a:r>
          </a:p>
          <a:p>
            <a:pPr marL="800100" lvl="1" indent="-342900" algn="l">
              <a:buFontTx/>
              <a:buChar char="-"/>
            </a:pPr>
            <a:r>
              <a:rPr lang="fr-FR" dirty="0"/>
              <a:t>saisie clavier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979EAE1-2FD1-AD68-E732-F56BFA87F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171" y="1585006"/>
            <a:ext cx="3491028" cy="22330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64F60D4-18CD-951B-C317-2A7796538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77" y="4818369"/>
            <a:ext cx="11704846" cy="93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161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DD420-C291-7DB0-0748-BA7307D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3961"/>
            <a:ext cx="9144000" cy="1022402"/>
          </a:xfrm>
        </p:spPr>
        <p:txBody>
          <a:bodyPr>
            <a:normAutofit/>
          </a:bodyPr>
          <a:lstStyle/>
          <a:p>
            <a:r>
              <a:rPr lang="fr-FR" dirty="0"/>
              <a:t>Génération csv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05C306A-06D9-66C3-9E1C-E382D80E8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26" y="1954402"/>
            <a:ext cx="4465707" cy="294919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398A323-1755-E895-A54D-DB5535DD7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26" y="5213315"/>
            <a:ext cx="10716454" cy="115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56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DD420-C291-7DB0-0748-BA7307D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80" y="353961"/>
            <a:ext cx="9144000" cy="1022402"/>
          </a:xfrm>
        </p:spPr>
        <p:txBody>
          <a:bodyPr>
            <a:normAutofit/>
          </a:bodyPr>
          <a:lstStyle/>
          <a:p>
            <a:r>
              <a:rPr lang="fr-FR" dirty="0"/>
              <a:t>Apprentissage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4469E616-5F2D-0655-BD65-280051EC2B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FFD3B8E-6434-8E6D-00A0-BB35FCD87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01" y="1568330"/>
            <a:ext cx="10614558" cy="372133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7E595C3-28D6-9543-D88F-AF8AD2B1C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01" y="5481636"/>
            <a:ext cx="9678239" cy="1889924"/>
          </a:xfrm>
          <a:prstGeom prst="rect">
            <a:avLst/>
          </a:prstGeom>
        </p:spPr>
      </p:pic>
      <p:sp>
        <p:nvSpPr>
          <p:cNvPr id="15" name="Sous-titre 2">
            <a:extLst>
              <a:ext uri="{FF2B5EF4-FFF2-40B4-BE49-F238E27FC236}">
                <a16:creationId xmlns:a16="http://schemas.microsoft.com/office/drawing/2014/main" id="{B7E1E54E-161C-721A-D174-4757B11E7F8F}"/>
              </a:ext>
            </a:extLst>
          </p:cNvPr>
          <p:cNvSpPr txBox="1">
            <a:spLocks/>
          </p:cNvSpPr>
          <p:nvPr/>
        </p:nvSpPr>
        <p:spPr>
          <a:xfrm>
            <a:off x="760578" y="6126480"/>
            <a:ext cx="8619642" cy="2862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b="1" dirty="0"/>
              <a:t>85 % pour l'entraînement</a:t>
            </a:r>
            <a:r>
              <a:rPr lang="fr-FR" dirty="0"/>
              <a:t> et </a:t>
            </a:r>
            <a:r>
              <a:rPr lang="fr-FR" b="1" dirty="0"/>
              <a:t>15 % pour la validation</a:t>
            </a:r>
            <a:endParaRPr lang="fr-FR" dirty="0"/>
          </a:p>
          <a:p>
            <a:pPr marL="342900" indent="-342900" algn="l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0466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DD420-C291-7DB0-0748-BA7307D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3961"/>
            <a:ext cx="9144000" cy="1022402"/>
          </a:xfrm>
        </p:spPr>
        <p:txBody>
          <a:bodyPr>
            <a:normAutofit/>
          </a:bodyPr>
          <a:lstStyle/>
          <a:p>
            <a:r>
              <a:rPr lang="fr-FR" dirty="0"/>
              <a:t>Après apprentissage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64AC2E4-7297-AF5C-988A-16A12569E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78" y="3429000"/>
            <a:ext cx="9543232" cy="145778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D9427C6-49FF-9F1F-C100-16C3A515E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741" y="1376363"/>
            <a:ext cx="5326060" cy="180071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0BBA7C2-430F-E4B0-BF4D-B0A626BB9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44" y="5138706"/>
            <a:ext cx="9609366" cy="135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86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DD420-C291-7DB0-0748-BA7307D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3961"/>
            <a:ext cx="9144000" cy="1022402"/>
          </a:xfrm>
        </p:spPr>
        <p:txBody>
          <a:bodyPr>
            <a:normAutofit/>
          </a:bodyPr>
          <a:lstStyle/>
          <a:p>
            <a:r>
              <a:rPr lang="fr-FR" dirty="0"/>
              <a:t>Apprentissage à relativiser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E733D45-F45F-C450-2FC2-9449333A6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35" y="1650870"/>
            <a:ext cx="4020913" cy="456868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34523D3-B19F-D914-DF72-264770D81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307" y="1664788"/>
            <a:ext cx="6853243" cy="455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01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DD420-C291-7DB0-0748-BA7307D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3961"/>
            <a:ext cx="9144000" cy="1022402"/>
          </a:xfrm>
        </p:spPr>
        <p:txBody>
          <a:bodyPr>
            <a:normAutofit/>
          </a:bodyPr>
          <a:lstStyle/>
          <a:p>
            <a:r>
              <a:rPr lang="fr-FR" dirty="0"/>
              <a:t>La suite ?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29D8CE-EA6E-BC1A-E942-FD143B3D4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378" y="1705127"/>
            <a:ext cx="8619642" cy="3447745"/>
          </a:xfrm>
        </p:spPr>
        <p:txBody>
          <a:bodyPr>
            <a:normAutofit lnSpcReduction="10000"/>
          </a:bodyPr>
          <a:lstStyle/>
          <a:p>
            <a:pPr marL="342900" indent="-342900" algn="l">
              <a:buFontTx/>
              <a:buChar char="-"/>
            </a:pPr>
            <a:r>
              <a:rPr lang="fr-FR" dirty="0"/>
              <a:t>Démonstrateur fonctionnel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De nombreux manques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Décodage à améliorer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Apprentissage à renforcer</a:t>
            </a:r>
          </a:p>
          <a:p>
            <a:pPr marL="342900" indent="-342900" algn="l">
              <a:buFontTx/>
              <a:buChar char="-"/>
            </a:pPr>
            <a:endParaRPr lang="fr-FR" dirty="0"/>
          </a:p>
          <a:p>
            <a:pPr marL="342900" indent="-342900" algn="l">
              <a:buFontTx/>
              <a:buChar char="-"/>
            </a:pPr>
            <a:r>
              <a:rPr lang="fr-FR" dirty="0"/>
              <a:t>Temps bénévole personnel limité : 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Proposition de gestion en open source et contributions de ceux qui le souhaite.</a:t>
            </a:r>
          </a:p>
        </p:txBody>
      </p:sp>
    </p:spTree>
    <p:extLst>
      <p:ext uri="{BB962C8B-B14F-4D97-AF65-F5344CB8AC3E}">
        <p14:creationId xmlns:p14="http://schemas.microsoft.com/office/powerpoint/2010/main" val="145773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DD420-C291-7DB0-0748-BA7307D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80" y="353961"/>
            <a:ext cx="9144000" cy="1022402"/>
          </a:xfrm>
        </p:spPr>
        <p:txBody>
          <a:bodyPr>
            <a:normAutofit/>
          </a:bodyPr>
          <a:lstStyle/>
          <a:p>
            <a:r>
              <a:rPr lang="fr-FR" dirty="0"/>
              <a:t>Proposition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29D8CE-EA6E-BC1A-E942-FD143B3D4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378" y="1705127"/>
            <a:ext cx="8619642" cy="3447745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fr-FR" dirty="0"/>
              <a:t>Communication sur le Discord </a:t>
            </a:r>
            <a:r>
              <a:rPr lang="fr-FR" dirty="0" err="1"/>
              <a:t>Dbchiro</a:t>
            </a:r>
            <a:r>
              <a:rPr lang="fr-FR" dirty="0"/>
              <a:t> et appel à contribution.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Mise du code sur un GITHUB accès libre (précision version initiale peu complète).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Mise place d’un outil de gestion de projet.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Demande contributions utilisateurs (apprentissage, </a:t>
            </a:r>
            <a:r>
              <a:rPr lang="fr-FR" dirty="0" err="1"/>
              <a:t>tunning</a:t>
            </a:r>
            <a:r>
              <a:rPr lang="fr-FR" dirty="0"/>
              <a:t> JSON, code).</a:t>
            </a:r>
          </a:p>
        </p:txBody>
      </p:sp>
      <p:pic>
        <p:nvPicPr>
          <p:cNvPr id="1026" name="Picture 2" descr="GitHub — Wikipédia">
            <a:extLst>
              <a:ext uri="{FF2B5EF4-FFF2-40B4-BE49-F238E27FC236}">
                <a16:creationId xmlns:a16="http://schemas.microsoft.com/office/drawing/2014/main" id="{66B73390-644F-2CA7-2EFF-3A23F736E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620" y="4861560"/>
            <a:ext cx="1483360" cy="148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6322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271</Words>
  <Application>Microsoft Office PowerPoint</Application>
  <PresentationFormat>Grand écran</PresentationFormat>
  <Paragraphs>58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Thème Office</vt:lpstr>
      <vt:lpstr>Chiro OCR</vt:lpstr>
      <vt:lpstr>Chiro OCR</vt:lpstr>
      <vt:lpstr>Chiro OCR</vt:lpstr>
      <vt:lpstr>Detection fiche</vt:lpstr>
      <vt:lpstr>Découpe cases données</vt:lpstr>
      <vt:lpstr>Estimation données</vt:lpstr>
      <vt:lpstr>Validation /correction</vt:lpstr>
      <vt:lpstr>Génération csv</vt:lpstr>
      <vt:lpstr>Apprentissage</vt:lpstr>
      <vt:lpstr>Après apprentissage</vt:lpstr>
      <vt:lpstr>Apprentissage à relativiser</vt:lpstr>
      <vt:lpstr>La suite ?</vt:lpstr>
      <vt:lpstr>Proposition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Ronan nedelec</dc:creator>
  <cp:lastModifiedBy>Ronan nedelec</cp:lastModifiedBy>
  <cp:revision>21</cp:revision>
  <dcterms:created xsi:type="dcterms:W3CDTF">2026-10-14T16:49:12Z</dcterms:created>
  <dcterms:modified xsi:type="dcterms:W3CDTF">2026-10-14T22:40:25Z</dcterms:modified>
</cp:coreProperties>
</file>